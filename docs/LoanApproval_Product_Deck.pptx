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Aptos"/>
              </a:rPr>
              <a:t>CORNELL FINTECH CLUB · 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7665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"/>
              </a:rPr>
              <a:t>LoanApproval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42032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Full-stack lending platform for borrower intake, automated credit policy, document workflows, and underwriter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005072"/>
            <a:ext cx="2240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411480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3525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891B2"/>
                </a:solidFill>
                <a:latin typeface="Aptos"/>
              </a:rPr>
              <a:t>Apply → Fund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4005072"/>
            <a:ext cx="2240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2424" y="411480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DECISION MODES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43525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59669"/>
                </a:solidFill>
                <a:latin typeface="Aptos"/>
              </a:rPr>
              <a:t>Rules · ML · 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4005072"/>
            <a:ext cx="2240280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8736" y="411480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1">
                <a:solidFill>
                  <a:srgbClr val="64748B"/>
                </a:solidFill>
                <a:latin typeface="Aptos"/>
              </a:rPr>
              <a:t>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88736" y="435254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D4ED8"/>
                </a:solidFill>
                <a:latin typeface="Aptos"/>
              </a:rPr>
              <a:t>Next.js + 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143000"/>
            <a:ext cx="3063240" cy="42519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INSERT_HERO_PRODUCT_SCREENSHOT 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CORE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Product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09344"/>
            <a:ext cx="4800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Aptos"/>
              </a:rPr>
              <a:t>LoanApproval turns a fragmented SMB loan process into a structured credit file with a transparent policy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4709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Borrowers complete a guided multi-step application.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Underwriters review every deal in a portfolio dashboard.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Rules engine produces deterministic approve, decline, or manual-review outcomes.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ML scoring and LLM extraction are wired as risk and productivity layers.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627632"/>
            <a:ext cx="25603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0" y="1627632"/>
            <a:ext cx="45720" cy="107899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3328" y="1792224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Borrower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2103120"/>
            <a:ext cx="21762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Self-serve application, document upload, confirmation and status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1627632"/>
            <a:ext cx="25603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41080" y="1627632"/>
            <a:ext cx="45720" cy="10789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2248" y="1792224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Underwriter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42248" y="2103120"/>
            <a:ext cx="21762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Portfolio KPIs, pipeline, sortable application queue, detailed credit review.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971800"/>
            <a:ext cx="25603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0" y="2971800"/>
            <a:ext cx="45720" cy="10789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3136392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447288"/>
            <a:ext cx="21762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Weighted core ratios, industry tracks, amount-based thresholds, hard stops.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971800"/>
            <a:ext cx="256032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41080" y="2971800"/>
            <a:ext cx="45720" cy="107899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42248" y="3136392"/>
            <a:ext cx="21762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3447288"/>
            <a:ext cx="21762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FastAPI, PostgreSQL, Supabase Storage, swappable OpenAI or Anthropic client.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370832"/>
            <a:ext cx="5349240" cy="11430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INSERT_PRODUCT_OVERVIEW_COMPOSITE 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Loan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532" y="1444752"/>
            <a:ext cx="772160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Borrower Entry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9344"/>
            <a:ext cx="4480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The landing page positions the product around speed, transparency, and no hard credit pull.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31720"/>
            <a:ext cx="4343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Primary CTA routes directly to `/apply/step/1`.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Financing options include term loans, lines of credit, equipment finance, and bridge loans.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Eligibility copy sets basic borrower expectations before intake begins.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1536192"/>
            <a:ext cx="5440680" cy="431596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INSERT_SCREENSHOT: Landing page / financing options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BORROWER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Guided Application Intake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33649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45720" cy="10058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9222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1. Business 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103120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Legal name, DBA, industry, structure, EIN, address, and years in operation.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816352"/>
            <a:ext cx="33649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816352"/>
            <a:ext cx="45720" cy="10058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98094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2. Loan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291840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Amount, purpose, optional use-of-funds detail, and desired term.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05072"/>
            <a:ext cx="336499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4005072"/>
            <a:ext cx="4572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4169664"/>
            <a:ext cx="29809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3. Review &amp; Submit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480560"/>
            <a:ext cx="29809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Certified application payload creates borrower and application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1536192"/>
            <a:ext cx="6355080" cy="440740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INSERT_SCREENSHOT: Multi-step application form 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CREDIT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Financial Data Capture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452628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The borrower workflow collects financial statements as structured values before underwriting.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22576"/>
            <a:ext cx="4480560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Core fields: revenue, EBITDA, debt, assets, collateral, annual debt service, bankruptcies.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Optional fields improve ratio coverage: current assets, liabilities, EBIT, interest expense.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The UI calculates DSCR, LTV, and leverage while the user enters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96128" y="1572768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96128" y="1572768"/>
            <a:ext cx="4572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737360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DSCR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2048256"/>
            <a:ext cx="20391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EBITDA / annual debt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72768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1572768"/>
            <a:ext cx="4572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737360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048256"/>
            <a:ext cx="20391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loan amount / collateral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2761488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96128" y="2761488"/>
            <a:ext cx="45720" cy="914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926080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Leverage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3236976"/>
            <a:ext cx="20391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existing debt / EBITDA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761488"/>
            <a:ext cx="24231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761488"/>
            <a:ext cx="45720" cy="914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2926080"/>
            <a:ext cx="20391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Liquidity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3236976"/>
            <a:ext cx="20391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current assets / liabilities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96128" y="4069080"/>
            <a:ext cx="5056632" cy="118872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INSERT_SCREENSHOT: Financials step with calculated ratios 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Document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09344"/>
            <a:ext cx="4343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Document collection supports the credit file without forcing everything into manual email threads.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4251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Required slots: financial statements, tax returns, and bank statements.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Optional slots: AR aging and collateral documentation.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Upload endpoint records metadata and storage path, then writes an audit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536192"/>
            <a:ext cx="5468112" cy="440740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INSERT_SCREENSHOT: Document upload drop zones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Backend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24" y="1408176"/>
            <a:ext cx="7900416" cy="4443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DECISIONING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Credit Policy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isio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41919"/>
            <a:ext cx="6858000" cy="3857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18120" y="1554480"/>
            <a:ext cx="33375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Company score: weighted 0–2 score across five core metrics.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Industry score: average 0–2 score across the selected industry track.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Final score: 60% company score and 40% industry score.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Loan brackets tighten approval thresholds as requested amount increases.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RISK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Industry-Specific Underwriting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627632"/>
            <a:ext cx="3246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627632"/>
            <a:ext cx="45720" cy="11155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92224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growth, margin, concentration, burn coverage, NRR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627632"/>
            <a:ext cx="3246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9976" y="1627632"/>
            <a:ext cx="45720" cy="11155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792224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Hospitality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10312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RevPAR, GOP/room, occupancy, cap rate, current ratio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627632"/>
            <a:ext cx="3246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627632"/>
            <a:ext cx="45720" cy="11155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792224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10312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sales/sqft, GMROI, inventory turns, gross margin, same-store sales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200400"/>
            <a:ext cx="3246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" y="3200400"/>
            <a:ext cx="45720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3649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Healthcare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67588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operating margin, cash on hand, AR days, payer mix, collections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9976" y="3200400"/>
            <a:ext cx="324612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9976" y="3200400"/>
            <a:ext cx="45720" cy="111556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3364992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Industrials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3675888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asset turnover, interest coverage, margin, OCF, backlog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04748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The important design choice is traceability: each industry metric produces a tier label, score, and triggered-rule payload that can be displayed to analysts.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RISK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ML Default Probability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4389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The ML layer is designed as an additional signal, not a black-box replacement for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40864"/>
            <a:ext cx="43159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Training script supports LendingClub CSV input or synthetic fallback data.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Feature set mirrors the application schema plus engineered ratios.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Model pipeline combines logistic regression and gradient boosting through soft voting.</a:t>
            </a:r>
          </a:p>
          <a:p>
            <a:pPr>
              <a:spcAft>
                <a:spcPts val="800"/>
              </a:spcAft>
              <a:defRPr sz="1300">
                <a:solidFill>
                  <a:srgbClr val="475569"/>
                </a:solidFill>
                <a:latin typeface="Aptos"/>
              </a:defRPr>
            </a:pPr>
            <a:r>
              <a:t>API stores probability on the existing decision and logs the scoring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32120" y="1627632"/>
            <a:ext cx="5349240" cy="40233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INSERT_IMAGE: ROC curve / feature importance / model card 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LLM-Assisted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627632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627632"/>
            <a:ext cx="45720" cy="11155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92224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Document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2953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Financial statements and tax returns route to `/llm/extract/{doc_id}` for structured field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944368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" y="2944368"/>
            <a:ext cx="45720" cy="11155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108960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Decision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19856"/>
            <a:ext cx="2953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Decision outcomes can be translated into plain-English rationale using the same triggered-rule payload.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" y="4261104"/>
            <a:ext cx="33375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" y="4261104"/>
            <a:ext cx="45720" cy="111556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425696"/>
            <a:ext cx="295351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Provider Abstraction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736592"/>
            <a:ext cx="295351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OpenAI and Anthropic are swappable through `LLM_PROVIDER` and provider-specific API keys.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1627632"/>
            <a:ext cx="6291072" cy="376732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INSERT_SCREENSHOT: Analyst explanation panel 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PORTFOLIO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Underwriter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627632"/>
            <a:ext cx="4343400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KPI cards summarize exposure, active deals, approval rate, and average loan size.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Charts show monthly originations and status breakdown.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Recent applications link directly into the credit file.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Application table supports search, status filter, sorting, and pagination.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3832" y="1536192"/>
            <a:ext cx="5468112" cy="440740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INSERT_SCREENSHOT: Dashboard overview and applications table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ANALYST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Decision Detail &amp;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04-22 at 10.43.3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79" y="1481328"/>
            <a:ext cx="4118065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49240" y="1627632"/>
            <a:ext cx="5321808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Application detail page combines loan request, borrower profile, financial ratios, radar chart, decision panel, and audit log.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Analysts can run evaluation, approve, decline, flag for review, or mark approved deals as funded.</a:t>
            </a:r>
          </a:p>
          <a:p>
            <a:pPr>
              <a:spcAft>
                <a:spcPts val="800"/>
              </a:spcAft>
              <a:defRPr sz="1500">
                <a:solidFill>
                  <a:srgbClr val="475569"/>
                </a:solidFill>
                <a:latin typeface="Aptos"/>
              </a:defRPr>
            </a:pPr>
            <a:r>
              <a:t>Every material event is written to `audit_log` for traceability.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D4ED8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"/>
              </a:rPr>
              <a:t>Roadmap &amp; Demo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43584"/>
            <a:ext cx="1110996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7276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0F172A"/>
                </a:solidFill>
                <a:latin typeface="Aptos"/>
              </a:rPr>
              <a:t>The current build is a credible end-to-end platform foundation. The next work should harden production readiness and decision quality.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Seed realistic portfolio data for dashboard demos.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Persist uploaded files in local/dev storage before Supabase handoff.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Add analyst-facing model card and validation metrics.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t>Expand test coverage around policy thresholds and edge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09344"/>
            <a:ext cx="49834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77840" y="1609344"/>
            <a:ext cx="45720" cy="9509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79008" y="1773936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Recommended Demo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084832"/>
            <a:ext cx="45994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Landing page → application steps → decision evaluation → application detail → pipeline board → audit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2816352"/>
            <a:ext cx="4983480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2816352"/>
            <a:ext cx="45720" cy="9509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79008" y="2980944"/>
            <a:ext cx="45994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Investor / Judge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3291840"/>
            <a:ext cx="459943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The platform demonstrates workflow depth, policy explainability, and a path from prototype to regulated lending operations.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133087"/>
            <a:ext cx="4983480" cy="11430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64748B"/>
                </a:solidFill>
                <a:latin typeface="Aptos"/>
              </a:rPr>
              <a:t>{{ INSERT_FINAL_SCREENSHOT_OR_TEAM_LOGO 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282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  <a:latin typeface="Aptos"/>
              </a:rPr>
              <a:t>LoanApproval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282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