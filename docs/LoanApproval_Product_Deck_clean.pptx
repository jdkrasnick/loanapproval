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3C5FD"/>
                </a:solidFill>
                <a:latin typeface="Aptos"/>
              </a:rPr>
              <a:t>CORNELL FINTECH CLUB | SPRING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6217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LoanApproval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5989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A full-stack lending platform for borrower intake, credit policy automation, document workflows, and underwriter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767328"/>
            <a:ext cx="21488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87705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BD5E1"/>
                </a:solidFill>
                <a:latin typeface="Aptos"/>
              </a:rPr>
              <a:t>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09651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Aptos"/>
              </a:rPr>
              <a:t>Apply to fund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7248" y="3767328"/>
            <a:ext cx="21488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387705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BD5E1"/>
                </a:solidFill>
                <a:latin typeface="Aptos"/>
              </a:rPr>
              <a:t>DECISIONING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409651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Aptos"/>
              </a:rPr>
              <a:t>Rules + ML +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04688" y="3767328"/>
            <a:ext cx="21488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3877056"/>
            <a:ext cx="18288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BD5E1"/>
                </a:solidFill>
                <a:latin typeface="Aptos"/>
              </a:rPr>
              <a:t>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992" y="409651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3C5FD"/>
                </a:solidFill>
                <a:latin typeface="Aptos"/>
              </a:rPr>
              <a:t>Next.js + FastAPI</a:t>
            </a:r>
          </a:p>
        </p:txBody>
      </p:sp>
      <p:pic>
        <p:nvPicPr>
          <p:cNvPr id="15" name="Picture 1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1" y="2155222"/>
            <a:ext cx="3154680" cy="20812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3232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LoanApproval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CORE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Product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LoanApproval converts fragmented SMB lending workflows into a structured credit file and a transparent underwriting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23744"/>
            <a:ext cx="46634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Borrower-facing application flow collects business, loan, financial, and document data.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Underwriter dashboard turns submissions into a searchable, status-driven pipeline.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Credit policy is deterministic first, with ML and LLM layers supporting risk review and productivity.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72768"/>
            <a:ext cx="2514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1572768"/>
            <a:ext cx="54864" cy="9875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7608" y="1737360"/>
            <a:ext cx="2112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Borrower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8" y="2084832"/>
            <a:ext cx="21122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Guided application, document staging, confirmation, and status lookup.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13648" y="1572768"/>
            <a:ext cx="2514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13648" y="1572768"/>
            <a:ext cx="54864" cy="9875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14816" y="1737360"/>
            <a:ext cx="2112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Underwriter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6" y="2084832"/>
            <a:ext cx="21122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Portfolio overview, pipeline, queue, detail page, and action buttons.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871216"/>
            <a:ext cx="2514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6440" y="2871216"/>
            <a:ext cx="54864" cy="9875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07608" y="3035808"/>
            <a:ext cx="2112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8" y="3383280"/>
            <a:ext cx="21122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Weighted ratios, industry tracks, loan brackets, hard stops, and caps.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13648" y="2871216"/>
            <a:ext cx="2514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13648" y="2871216"/>
            <a:ext cx="54864" cy="9875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14816" y="3035808"/>
            <a:ext cx="2112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4816" y="3383280"/>
            <a:ext cx="21122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FastAPI, PostgreSQL, Supabase Storage, OpenAI or Anthropic.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4315968"/>
            <a:ext cx="5321808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INSERT OVERVIEW COMPOSITE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End-to-End Loan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45920"/>
            <a:ext cx="54864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10512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Apply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57984"/>
            <a:ext cx="1563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Borrower profile and loan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4" y="2048256"/>
            <a:ext cx="109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645920"/>
            <a:ext cx="54864" cy="10789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1810512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Financials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157984"/>
            <a:ext cx="1563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Core values and calculated ratios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048256"/>
            <a:ext cx="109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9472" y="1645920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9472" y="1645920"/>
            <a:ext cx="54864" cy="10789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810512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Documents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157984"/>
            <a:ext cx="1563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Statements, returns, bank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048256"/>
            <a:ext cx="109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0024" y="1645920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50024" y="1645920"/>
            <a:ext cx="54864" cy="10789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51192" y="1810512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2157984"/>
            <a:ext cx="1563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Rules engine and model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048256"/>
            <a:ext cx="109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0576" y="1645920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0576" y="1645920"/>
            <a:ext cx="54864" cy="10789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1744" y="1810512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Manage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2157984"/>
            <a:ext cx="1563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Pipeline, actions, audit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29184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Application state model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3822191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" y="3822191"/>
            <a:ext cx="54864" cy="10789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986783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New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334255"/>
            <a:ext cx="1563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Submitted and awaiting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15768" y="4224527"/>
            <a:ext cx="109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43784" y="3822191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43784" y="3822191"/>
            <a:ext cx="54864" cy="10789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3986783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In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44952" y="4334255"/>
            <a:ext cx="1563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Manual review or capped decision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4224527"/>
            <a:ext cx="109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&gt;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74336" y="3822191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74336" y="3822191"/>
            <a:ext cx="54864" cy="10789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75504" y="3986783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Approved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5504" y="4334255"/>
            <a:ext cx="1563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Credit decision accepted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6872" y="4224527"/>
            <a:ext cx="109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&gt;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04888" y="3822191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04888" y="3822191"/>
            <a:ext cx="54864" cy="10789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06056" y="3986783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Funded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06056" y="4334255"/>
            <a:ext cx="1563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Post-approval funding state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4224527"/>
            <a:ext cx="109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&gt;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3822191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35440" y="3822191"/>
            <a:ext cx="54864" cy="10789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36608" y="3986783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Declined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36608" y="4334255"/>
            <a:ext cx="1563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Terminal rejection branch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Borrower Entry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572768"/>
            <a:ext cx="43434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The landing page is simple: explain the offer, set expectations, and route directly into the application.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31720"/>
            <a:ext cx="42519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CTA points to the first application step.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Loan products cover term loan, line of credit, equipment finance, and bridge loan.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Eligibility copy reduces low-quality submissions before intake begins.</a:t>
            </a:r>
          </a:p>
        </p:txBody>
      </p:sp>
      <p:pic>
        <p:nvPicPr>
          <p:cNvPr id="9" name="Picture 8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63407"/>
            <a:ext cx="5577840" cy="3679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BORROWER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Guided Application Intake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3246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27632"/>
            <a:ext cx="54864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92224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Business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39696"/>
            <a:ext cx="284378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Company name, DBA, industry, legal structure, years in operation, EIN, and address.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3246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834640"/>
            <a:ext cx="54864" cy="9601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999232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Loan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346704"/>
            <a:ext cx="284378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Amount, purpose, optional details, and desired term.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41648"/>
            <a:ext cx="3246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041648"/>
            <a:ext cx="54864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206240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Review and 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553712"/>
            <a:ext cx="284378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Certified payload creates borrower and application records.</a:t>
            </a:r>
          </a:p>
        </p:txBody>
      </p:sp>
      <p:pic>
        <p:nvPicPr>
          <p:cNvPr id="19" name="Picture 18" descr="apply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16170"/>
            <a:ext cx="6355080" cy="41925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CREDIT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Financial Data Capture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572768"/>
            <a:ext cx="4480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Structured financial data gives the backend enough information to calculate policy metrics without manual spreadsheet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59152"/>
            <a:ext cx="438912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Required fields include revenue, EBITDA, debt, assets, collateral, debt service, and bankruptcies.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Optional fields support current ratio and interest coverage.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The frontend calculates DSCR, LTV, and leverage while the borrower types.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627632"/>
            <a:ext cx="2423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32120" y="1627632"/>
            <a:ext cx="54864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33288" y="1792224"/>
            <a:ext cx="2020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DSCR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3288" y="2139696"/>
            <a:ext cx="202082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EBITDA / annual debt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27632"/>
            <a:ext cx="2423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27632"/>
            <a:ext cx="54864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792224"/>
            <a:ext cx="2020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LTV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139696"/>
            <a:ext cx="202082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loan amount / collateral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2798064"/>
            <a:ext cx="2423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32120" y="2798064"/>
            <a:ext cx="54864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3288" y="2962656"/>
            <a:ext cx="2020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33288" y="3310128"/>
            <a:ext cx="202082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existing debt / EBITDA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798064"/>
            <a:ext cx="2423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798064"/>
            <a:ext cx="54864" cy="868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2962656"/>
            <a:ext cx="2020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Liquidity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3310128"/>
            <a:ext cx="202082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current assets / current liabilities</a:t>
            </a:r>
          </a:p>
        </p:txBody>
      </p:sp>
      <p:pic>
        <p:nvPicPr>
          <p:cNvPr id="25" name="Picture 24" descr="apply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261" y="4005072"/>
            <a:ext cx="2148358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Document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572768"/>
            <a:ext cx="4389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Document handling is modeled as part of the application record, not as an external email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31720"/>
            <a:ext cx="43434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Required: financial statements, tax returns, and bank statements.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Optional: accounts receivable aging and collateral documents.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Upload records metadata, storage path, and an audit event.</a:t>
            </a:r>
          </a:p>
        </p:txBody>
      </p:sp>
      <p:pic>
        <p:nvPicPr>
          <p:cNvPr id="9" name="Picture 8" descr="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72551"/>
            <a:ext cx="5577840" cy="3679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Backend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1417320"/>
            <a:ext cx="80467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DECISIONING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Credit Policy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decisio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929"/>
            <a:ext cx="6629400" cy="37290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664208"/>
            <a:ext cx="3474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Company score: five weighted core metrics on a 0 to 2 scale.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Industry score: five metrics for the selected industry track.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Final score: 60 percent company, 40 percent industry.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Loan brackets raise approval thresholds for larger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BA PLACEHOLDER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Manual Credit Formula Workbench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572768"/>
            <a:ext cx="5669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Blank working slide for business-analysis notes behind the manual credit formulas and analyst-facing rationale.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ptos"/>
              </a:rPr>
              <a:t>Rough outline to fill in later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615184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615184"/>
            <a:ext cx="54864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79776"/>
            <a:ext cx="20848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Formula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8"/>
            <a:ext cx="20848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Example: DSCR, LTV, leverage, industry metric, hard stop, or cap.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2615184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2615184"/>
            <a:ext cx="54864" cy="10789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779776"/>
            <a:ext cx="20848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Manual definition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27248"/>
            <a:ext cx="20848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Plain-English BA definition and any source notes.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615184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615184"/>
            <a:ext cx="54864" cy="10789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779776"/>
            <a:ext cx="20848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Inputs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27248"/>
            <a:ext cx="20848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Required fields, fallback logic, and missing-data handling.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2615184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42832" y="2615184"/>
            <a:ext cx="54864" cy="10789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779776"/>
            <a:ext cx="20848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Thresholds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127248"/>
            <a:ext cx="20848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Approve / review / concern / reject tiers by bracket or segment.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041648"/>
            <a:ext cx="33101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4041648"/>
            <a:ext cx="54864" cy="1143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06240"/>
            <a:ext cx="29077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Decision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53712"/>
            <a:ext cx="290779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Does this affect company score, industry score, final score, hard stop, or review cap?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4041648"/>
            <a:ext cx="33101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5968" y="4041648"/>
            <a:ext cx="54864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4206240"/>
            <a:ext cx="29077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Applicant explanation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4553712"/>
            <a:ext cx="290779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How the rule should be described in the LLM-generated explanation.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18704" y="4041648"/>
            <a:ext cx="33101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18704" y="4041648"/>
            <a:ext cx="54864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2" y="4206240"/>
            <a:ext cx="29077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Validation notes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872" y="4553712"/>
            <a:ext cx="290779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Test cases, edge cases, owner, and approval status.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RISK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Industry-Specific Underwriting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0200"/>
            <a:ext cx="3246120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600200"/>
            <a:ext cx="54864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12264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growth, gross margin, concentration, burn coverage, NRR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600200"/>
            <a:ext cx="3246120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600200"/>
            <a:ext cx="54864" cy="9692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64792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Hospitality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12264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RevPAR, GOP per room, occupancy, cap rate, current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1" y="1600200"/>
            <a:ext cx="3246120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1" y="1600200"/>
            <a:ext cx="54864" cy="9692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764792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Retail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112264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sales per square foot, GMROI, inventory turns, gross margin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017520"/>
            <a:ext cx="3246120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017520"/>
            <a:ext cx="54864" cy="9692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182112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Healthcare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529584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operating margin, cash on hand, AR days, payer mix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3017520"/>
            <a:ext cx="3246120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6552" y="3017520"/>
            <a:ext cx="54864" cy="9692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182112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Industrials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529584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asset turnover, interest coverage, margin, OCF, backlog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937760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Each metric produces a tier label, numeric score, and triggered-rule payload so analysts can see exactly why the policy engine reached its result.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RISK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ML Default Probability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572768"/>
            <a:ext cx="4526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The model score is a supplemental risk signal. It does not replace policy thresholds or hard stops.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04288"/>
            <a:ext cx="43891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Training supports LendingClub input or synthetic fallback data.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Features mirror application fields plus debt-to-equity, DSCR, and revenue-to-loan.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Pipeline combines logistic regression and gradient boosting through soft voting.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API writes probability to the decision record and logs the scoring event.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572768"/>
            <a:ext cx="544068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INSERT IMAGE: MODEL CARD OR ROC CURVE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LLM-Assisted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27632"/>
            <a:ext cx="3246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627632"/>
            <a:ext cx="54864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92224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9696"/>
            <a:ext cx="28437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Financial statements and tax returns route to the LLM extraction endpoint.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89504"/>
            <a:ext cx="3246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889504"/>
            <a:ext cx="54864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54096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Explanation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01568"/>
            <a:ext cx="28437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Triggered rules and score context become plain-English rationale.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151376"/>
            <a:ext cx="3246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4151376"/>
            <a:ext cx="54864" cy="10058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15968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Provider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28437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OpenAI and Anthropic are swappable through environment configuration.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5152" y="1627632"/>
            <a:ext cx="6355080" cy="39136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INSERT SCREENSHOT: ANALYST EXPLANATION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PORTFOLIO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Underwriter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4389120" cy="2487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KPI cards summarize exposure, active deals, approval rate, and average loan size.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Charts show monthly originations and status breakdown.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Recent applications link directly to the credit file.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Application table supports search, status filtering, sorting, and pagination.</a:t>
            </a:r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1905921"/>
            <a:ext cx="5532120" cy="36496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ANALYST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Decision Detail and Audit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pic>
        <p:nvPicPr>
          <p:cNvPr id="7" name="Picture 6" descr="Screenshot 2026-04-22 at 10.43.3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4752"/>
            <a:ext cx="4177502" cy="4498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1808" y="162763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334155"/>
                </a:solidFill>
                <a:latin typeface="Aptos"/>
              </a:rPr>
              <a:t>- Detail page combines loan request, borrower profile, financial ratios, decision panel, and audit log.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34155"/>
                </a:solidFill>
                <a:latin typeface="Aptos"/>
              </a:rPr>
              <a:t>- Analysts can evaluate, approve, decline, flag for review, or mark approved deals as funded.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334155"/>
                </a:solidFill>
                <a:latin typeface="Aptos"/>
              </a:rPr>
              <a:t>- Audit events preserve the application lifecycle and decision rationale.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80467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Roadmap and Demo Narrative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4595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572768"/>
            <a:ext cx="4617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The current build demonstrates a credible end-to-end lending workflow. Next steps should focus on production hardening and richer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59152"/>
            <a:ext cx="4434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Seed realistic portfolio data for demos.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Harden local and production document storage.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Add model validation metrics and an analyst-facing model card.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- Expand tests around threshold boundaries and policy edge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96128" y="1627632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96128" y="1627632"/>
            <a:ext cx="54864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296" y="1792224"/>
            <a:ext cx="4672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Demo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7296" y="2139696"/>
            <a:ext cx="467258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Landing page -&gt; application steps -&gt; evaluation -&gt; decision detail -&gt; pipeline -&gt; audit 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96128" y="2907792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96128" y="2907792"/>
            <a:ext cx="54864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7296" y="3072384"/>
            <a:ext cx="4672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7296" y="3419856"/>
            <a:ext cx="467258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Workflow depth, policy explainability, and an extensible path toward regulated lending operations.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96128" y="4279392"/>
            <a:ext cx="50749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INSERT FINAL SCREENSHOT OR TEAM 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